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7724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270" y="-16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94360"/>
            <a:ext cx="960120" cy="73152"/>
          </a:xfrm>
          <a:prstGeom prst="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621792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7FE0D5"/>
                </a:solidFill>
                <a:latin typeface="Aptos"/>
              </a:defRPr>
            </a:pPr>
            <a:r>
              <a:t>BIENVENIDA · NUEVO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640080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HOJA DE RUTA</a:t>
            </a:r>
            <a:br/>
            <a:r>
              <a:t>Orientada al Nuevo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64992"/>
            <a:ext cx="1143000" cy="64008"/>
          </a:xfrm>
          <a:prstGeom prst="rect">
            <a:avLst/>
          </a:prstGeom>
          <a:solidFill>
            <a:srgbClr val="F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6309360" cy="22529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>
                <a:solidFill>
                  <a:srgbClr val="E8F0F5"/>
                </a:solidFill>
                <a:latin typeface="Aptos"/>
              </a:defRPr>
            </a:pPr>
            <a:r>
              <a:rPr sz="3600" dirty="0"/>
              <a:t>A </a:t>
            </a:r>
            <a:r>
              <a:rPr sz="3600" dirty="0" err="1"/>
              <a:t>continuación</a:t>
            </a:r>
            <a:r>
              <a:rPr sz="3600" dirty="0"/>
              <a:t> </a:t>
            </a:r>
            <a:r>
              <a:rPr sz="3600" dirty="0" err="1"/>
              <a:t>te</a:t>
            </a:r>
            <a:r>
              <a:rPr sz="3600" dirty="0"/>
              <a:t> </a:t>
            </a:r>
            <a:r>
              <a:rPr sz="3600" dirty="0" err="1"/>
              <a:t>contamos</a:t>
            </a:r>
            <a:r>
              <a:rPr sz="3600" dirty="0"/>
              <a:t> </a:t>
            </a:r>
            <a:r>
              <a:rPr sz="3600" dirty="0" err="1"/>
              <a:t>cómo</a:t>
            </a:r>
            <a:r>
              <a:rPr sz="3600" dirty="0"/>
              <a:t> </a:t>
            </a:r>
            <a:r>
              <a:rPr sz="3600" dirty="0" err="1"/>
              <a:t>será</a:t>
            </a:r>
            <a:r>
              <a:rPr sz="3600" dirty="0"/>
              <a:t> </a:t>
            </a:r>
            <a:r>
              <a:rPr sz="3600" dirty="0" err="1"/>
              <a:t>el</a:t>
            </a:r>
            <a:r>
              <a:rPr sz="3600" dirty="0"/>
              <a:t> </a:t>
            </a:r>
            <a:r>
              <a:rPr sz="3600" dirty="0" err="1"/>
              <a:t>acompañamiento</a:t>
            </a:r>
            <a:r>
              <a:rPr sz="3600" dirty="0"/>
              <a:t> que </a:t>
            </a:r>
            <a:r>
              <a:rPr sz="3600" dirty="0" err="1"/>
              <a:t>haremos</a:t>
            </a:r>
            <a:r>
              <a:rPr sz="3600" dirty="0"/>
              <a:t> con </a:t>
            </a:r>
            <a:r>
              <a:rPr sz="3600" dirty="0" err="1"/>
              <a:t>vos</a:t>
            </a:r>
            <a:r>
              <a:rPr sz="3600" dirty="0"/>
              <a:t> </a:t>
            </a:r>
            <a:r>
              <a:rPr sz="3600" dirty="0" err="1"/>
              <a:t>desde</a:t>
            </a:r>
            <a:r>
              <a:rPr sz="3600" dirty="0"/>
              <a:t> </a:t>
            </a:r>
            <a:r>
              <a:rPr sz="3600" dirty="0" err="1"/>
              <a:t>tu</a:t>
            </a:r>
            <a:r>
              <a:rPr sz="3600" dirty="0"/>
              <a:t> </a:t>
            </a:r>
            <a:r>
              <a:rPr sz="3600" dirty="0" err="1"/>
              <a:t>ingreso</a:t>
            </a:r>
            <a:r>
              <a:rPr sz="3600" dirty="0"/>
              <a:t> al </a:t>
            </a:r>
            <a:r>
              <a:rPr sz="3600" dirty="0" err="1"/>
              <a:t>negocio</a:t>
            </a:r>
            <a:r>
              <a:rPr sz="3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6400800"/>
            <a:ext cx="6629400" cy="2331720"/>
          </a:xfrm>
          <a:prstGeom prst="roundRect">
            <a:avLst/>
          </a:prstGeom>
          <a:solidFill>
            <a:srgbClr val="20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6693408"/>
            <a:ext cx="59893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7FE0D5"/>
                </a:solidFill>
                <a:latin typeface="Aptos"/>
              </a:defRPr>
            </a:pPr>
            <a:r>
              <a:t>EL NORTE LO SEÑALA TU PATROCINANTE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7223760"/>
            <a:ext cx="5897880" cy="1170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La velocidad la ponés 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9189720"/>
            <a:ext cx="6537960" cy="7755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DCE6ED"/>
                </a:solidFill>
                <a:latin typeface="Aptos"/>
              </a:defRPr>
            </a:pPr>
            <a:r>
              <a:rPr sz="1600" dirty="0"/>
              <a:t>Este es un </a:t>
            </a:r>
            <a:r>
              <a:rPr sz="1600" dirty="0" err="1"/>
              <a:t>horizonte</a:t>
            </a:r>
            <a:r>
              <a:rPr sz="1600" dirty="0"/>
              <a:t> </a:t>
            </a:r>
            <a:r>
              <a:rPr sz="1600" dirty="0" err="1"/>
              <a:t>posible</a:t>
            </a:r>
            <a:r>
              <a:rPr sz="1600" dirty="0"/>
              <a:t>. </a:t>
            </a:r>
            <a:r>
              <a:rPr sz="1600" dirty="0" err="1"/>
              <a:t>Adaptá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recorrido</a:t>
            </a:r>
            <a:r>
              <a:rPr sz="1600" dirty="0"/>
              <a:t> a </a:t>
            </a:r>
            <a:r>
              <a:rPr sz="1600" dirty="0" err="1"/>
              <a:t>tus</a:t>
            </a:r>
            <a:r>
              <a:rPr sz="1600" dirty="0"/>
              <a:t> </a:t>
            </a:r>
            <a:r>
              <a:rPr sz="1600" dirty="0" err="1"/>
              <a:t>tiempos</a:t>
            </a:r>
            <a:r>
              <a:rPr sz="1600" dirty="0"/>
              <a:t>, </a:t>
            </a:r>
            <a:r>
              <a:rPr sz="1600" dirty="0" err="1"/>
              <a:t>posibilidades</a:t>
            </a:r>
            <a:r>
              <a:rPr sz="1600" dirty="0"/>
              <a:t>, </a:t>
            </a:r>
            <a:r>
              <a:rPr sz="1600" dirty="0" err="1"/>
              <a:t>habilidades</a:t>
            </a:r>
            <a:r>
              <a:rPr sz="1600" dirty="0"/>
              <a:t> y </a:t>
            </a:r>
            <a:r>
              <a:rPr sz="1600" dirty="0" err="1"/>
              <a:t>conocimientos</a:t>
            </a:r>
            <a:r>
              <a:rPr sz="1600" dirty="0"/>
              <a:t> </a:t>
            </a:r>
            <a:r>
              <a:rPr sz="1600" dirty="0" err="1"/>
              <a:t>previos</a:t>
            </a:r>
            <a:r>
              <a:rPr sz="1600" dirty="0"/>
              <a:t>: </a:t>
            </a:r>
            <a:r>
              <a:rPr sz="1600" dirty="0" err="1"/>
              <a:t>eso</a:t>
            </a:r>
            <a:r>
              <a:rPr sz="1600" dirty="0"/>
              <a:t> </a:t>
            </a:r>
            <a:r>
              <a:rPr sz="1600" dirty="0" err="1"/>
              <a:t>te</a:t>
            </a:r>
            <a:r>
              <a:rPr sz="1600" dirty="0"/>
              <a:t> </a:t>
            </a:r>
            <a:r>
              <a:rPr sz="1600" dirty="0" err="1"/>
              <a:t>ayudará</a:t>
            </a:r>
            <a:r>
              <a:rPr sz="1600" dirty="0"/>
              <a:t> a </a:t>
            </a:r>
            <a:r>
              <a:rPr sz="1600" dirty="0" err="1"/>
              <a:t>transitar</a:t>
            </a:r>
            <a:r>
              <a:rPr sz="1600" dirty="0"/>
              <a:t> </a:t>
            </a:r>
            <a:r>
              <a:rPr sz="1600" dirty="0" err="1"/>
              <a:t>esta</a:t>
            </a:r>
            <a:r>
              <a:rPr sz="1600" dirty="0"/>
              <a:t> </a:t>
            </a:r>
            <a:r>
              <a:rPr sz="1600" dirty="0" err="1"/>
              <a:t>ruta</a:t>
            </a:r>
            <a:r>
              <a:rPr sz="1600" dirty="0"/>
              <a:t> a </a:t>
            </a:r>
            <a:r>
              <a:rPr sz="1600" dirty="0" err="1"/>
              <a:t>tu</a:t>
            </a:r>
            <a:r>
              <a:rPr sz="1600" dirty="0"/>
              <a:t> </a:t>
            </a:r>
            <a:r>
              <a:rPr sz="1600" dirty="0" err="1"/>
              <a:t>manera</a:t>
            </a:r>
            <a:r>
              <a:rPr sz="16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0652760"/>
            <a:ext cx="6629400" cy="658368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0822432"/>
            <a:ext cx="61264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¡TE DAMOS LA BIENVENIDA!  ·  LA CLAVE ES DEJARTE GUIAR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772400" cy="164592"/>
          </a:xfrm>
          <a:prstGeom prst="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0A6A1"/>
                </a:solidFill>
                <a:latin typeface="Aptos"/>
              </a:defRPr>
            </a:pPr>
            <a:r>
              <a:t>01 · PREPARACIÓN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676656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700" b="1">
                <a:solidFill>
                  <a:srgbClr val="142A43"/>
                </a:solidFill>
                <a:latin typeface="Aptos"/>
              </a:defRPr>
            </a:pP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tener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cuenta</a:t>
            </a:r>
            <a:r>
              <a:rPr dirty="0"/>
              <a:t> para </a:t>
            </a:r>
            <a:r>
              <a:rPr dirty="0" err="1"/>
              <a:t>comenzar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02920" y="11411712"/>
            <a:ext cx="6766560" cy="13716"/>
          </a:xfrm>
          <a:prstGeom prst="rect">
            <a:avLst/>
          </a:prstGeom>
          <a:solidFill>
            <a:srgbClr val="D9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503152"/>
            <a:ext cx="548640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607286"/>
                </a:solidFill>
                <a:latin typeface="Aptos"/>
              </a:defRPr>
            </a:pPr>
            <a:r>
              <a:t>HOJA DE RUTA · NUEVO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1475720"/>
            <a:ext cx="5943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100" b="1">
                <a:solidFill>
                  <a:srgbClr val="10A6A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>
            <a:spLocks/>
          </p:cNvSpPr>
          <p:nvPr/>
        </p:nvSpPr>
        <p:spPr>
          <a:xfrm>
            <a:off x="502920" y="1664208"/>
            <a:ext cx="6766560" cy="320306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7908" y="2205990"/>
            <a:ext cx="256032" cy="25603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5340" y="2244090"/>
            <a:ext cx="21031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908" y="2776728"/>
            <a:ext cx="256032" cy="25603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340" y="2814828"/>
            <a:ext cx="21031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8532" y="2721864"/>
            <a:ext cx="5715000" cy="2369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25364A"/>
                </a:solidFill>
                <a:latin typeface="Aptos"/>
              </a:defRPr>
            </a:pPr>
            <a:r>
              <a:rPr lang="es-AR" dirty="0"/>
              <a:t>Ficha personal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87908" y="3252216"/>
            <a:ext cx="256032" cy="25603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340" y="3283966"/>
            <a:ext cx="21031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8532" y="3197352"/>
            <a:ext cx="5715000" cy="2369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25364A"/>
                </a:solidFill>
                <a:latin typeface="Aptos"/>
              </a:defRPr>
            </a:pPr>
            <a:r>
              <a:rPr lang="es-AR" dirty="0"/>
              <a:t>Banco de nombres - Margarita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87908" y="3727704"/>
            <a:ext cx="256032" cy="25603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340" y="3765804"/>
            <a:ext cx="21031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8532" y="3729228"/>
            <a:ext cx="5715000" cy="2369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25364A"/>
                </a:solidFill>
                <a:latin typeface="Aptos"/>
              </a:defRPr>
            </a:pPr>
            <a:r>
              <a:rPr lang="es-AR" dirty="0"/>
              <a:t>Planilla de registro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208532" y="2074513"/>
            <a:ext cx="5715000" cy="6370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25364A"/>
                </a:solidFill>
                <a:latin typeface="Aptos"/>
              </a:defRPr>
            </a:pPr>
            <a:r>
              <a:rPr lang="es-MX" dirty="0"/>
              <a:t>Agenda (sueño – para que – presupuesto – metas a corto, mediano y largo plazo – planificación de objetivo mensual, trimestral y anual – chequeo  (anclaje))</a:t>
            </a:r>
          </a:p>
          <a:p>
            <a:pPr>
              <a:defRPr sz="1300" b="0">
                <a:solidFill>
                  <a:srgbClr val="25364A"/>
                </a:solidFill>
                <a:latin typeface="Aptos"/>
              </a:defRPr>
            </a:pP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594360" y="5443731"/>
            <a:ext cx="64008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0A6A1"/>
                </a:solidFill>
                <a:latin typeface="Aptos"/>
              </a:defRPr>
            </a:pPr>
            <a:r>
              <a:rPr dirty="0"/>
              <a:t>REUNIONES · ENLACES ZOOM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940555"/>
            <a:ext cx="6766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6175251"/>
            <a:ext cx="914400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42A43"/>
                </a:solidFill>
                <a:latin typeface="Aptos"/>
              </a:defRPr>
            </a:pPr>
            <a:r>
              <a:rPr lang="es-AR" dirty="0"/>
              <a:t>DC</a:t>
            </a: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502920" y="6882386"/>
            <a:ext cx="6766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7059932"/>
            <a:ext cx="9144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42A43"/>
                </a:solidFill>
                <a:latin typeface="Aptos"/>
              </a:defRPr>
            </a:pPr>
            <a:r>
              <a:rPr lang="es-AR" dirty="0"/>
              <a:t>LOS GANSOS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1645920" y="7050407"/>
            <a:ext cx="530352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25364A"/>
                </a:solidFill>
                <a:latin typeface="Aptos"/>
              </a:defRPr>
            </a:pPr>
            <a:r>
              <a:rPr dirty="0"/>
              <a:t>ID </a:t>
            </a:r>
            <a:r>
              <a:rPr lang="es-AR" dirty="0"/>
              <a:t>6289939130</a:t>
            </a:r>
            <a:r>
              <a:rPr dirty="0"/>
              <a:t> · Clave: </a:t>
            </a:r>
            <a:r>
              <a:rPr lang="es-AR" dirty="0"/>
              <a:t>vuelo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1645920" y="7324728"/>
            <a:ext cx="534924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0A6A1"/>
                </a:solidFill>
                <a:latin typeface="Aptos"/>
              </a:defRPr>
            </a:pPr>
            <a:r>
              <a:rPr lang="es-AR" dirty="0"/>
              <a:t>https://us02web.zoom.us/j/6289939130</a:t>
            </a:r>
            <a:endParaRPr dirty="0"/>
          </a:p>
        </p:txBody>
      </p:sp>
      <p:sp>
        <p:nvSpPr>
          <p:cNvPr id="45" name="Rounded Rectangle 44"/>
          <p:cNvSpPr/>
          <p:nvPr/>
        </p:nvSpPr>
        <p:spPr>
          <a:xfrm>
            <a:off x="502920" y="8814816"/>
            <a:ext cx="6766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9011412"/>
            <a:ext cx="9144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42A43"/>
                </a:solidFill>
                <a:latin typeface="Aptos"/>
              </a:defRPr>
            </a:pPr>
            <a:r>
              <a:rPr dirty="0"/>
              <a:t>PSA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0" y="8944737"/>
            <a:ext cx="530352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25364A"/>
                </a:solidFill>
                <a:latin typeface="Aptos"/>
              </a:defRPr>
            </a:pPr>
            <a:r>
              <a:rPr dirty="0"/>
              <a:t>ID 99613088608 · Clave: PSA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45920" y="9219057"/>
            <a:ext cx="5349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0A6A1"/>
                </a:solidFill>
                <a:latin typeface="Aptos"/>
              </a:defRPr>
            </a:pPr>
            <a:r>
              <a:t>https://zoom.us/j/99613088608?pwd=S2hLOFRab2NoN2xNZFR3ODJUcVNqQT09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9921240"/>
            <a:ext cx="64008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0A6A1"/>
                </a:solidFill>
                <a:latin typeface="Aptos"/>
              </a:defRPr>
            </a:pPr>
            <a:r>
              <a:t>HERRAMIENTAS Y PRIMEROS DÍAS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10268712"/>
            <a:ext cx="658368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25364A"/>
                </a:solidFill>
                <a:latin typeface="Aptos"/>
              </a:defRPr>
            </a:pPr>
            <a:r>
              <a:t>Apps: Zoom, iVoox, Spotify, PSA en Acción, PSA Garantías, Mi PSA y Lista de Precios. Agendá tus primeros 7 días: combiná lo personal con reuniones, formación y acción PSA. Registrá los horarios de atención de la sucursal.</a:t>
            </a:r>
          </a:p>
        </p:txBody>
      </p:sp>
      <p:sp>
        <p:nvSpPr>
          <p:cNvPr id="51" name="Rounded Rectangle 40">
            <a:extLst>
              <a:ext uri="{FF2B5EF4-FFF2-40B4-BE49-F238E27FC236}">
                <a16:creationId xmlns:a16="http://schemas.microsoft.com/office/drawing/2014/main" id="{EFB23369-827E-11B1-4E72-8933FC948556}"/>
              </a:ext>
            </a:extLst>
          </p:cNvPr>
          <p:cNvSpPr/>
          <p:nvPr/>
        </p:nvSpPr>
        <p:spPr>
          <a:xfrm>
            <a:off x="493395" y="7872985"/>
            <a:ext cx="6766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41">
            <a:extLst>
              <a:ext uri="{FF2B5EF4-FFF2-40B4-BE49-F238E27FC236}">
                <a16:creationId xmlns:a16="http://schemas.microsoft.com/office/drawing/2014/main" id="{61002CEB-45F3-02FB-9798-8473DA4934F1}"/>
              </a:ext>
            </a:extLst>
          </p:cNvPr>
          <p:cNvSpPr txBox="1"/>
          <p:nvPr/>
        </p:nvSpPr>
        <p:spPr>
          <a:xfrm>
            <a:off x="740283" y="8145781"/>
            <a:ext cx="9144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42A43"/>
                </a:solidFill>
                <a:latin typeface="Aptos"/>
              </a:defRPr>
            </a:pPr>
            <a:r>
              <a:rPr dirty="0"/>
              <a:t>RINO</a:t>
            </a:r>
          </a:p>
        </p:txBody>
      </p:sp>
      <p:sp>
        <p:nvSpPr>
          <p:cNvPr id="53" name="TextBox 42">
            <a:extLst>
              <a:ext uri="{FF2B5EF4-FFF2-40B4-BE49-F238E27FC236}">
                <a16:creationId xmlns:a16="http://schemas.microsoft.com/office/drawing/2014/main" id="{00936BF7-1172-ED6A-9181-AECB0565C6E5}"/>
              </a:ext>
            </a:extLst>
          </p:cNvPr>
          <p:cNvSpPr txBox="1"/>
          <p:nvPr/>
        </p:nvSpPr>
        <p:spPr>
          <a:xfrm>
            <a:off x="1636395" y="8021956"/>
            <a:ext cx="530352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25364A"/>
                </a:solidFill>
                <a:latin typeface="Aptos"/>
              </a:defRPr>
            </a:pPr>
            <a:r>
              <a:rPr dirty="0"/>
              <a:t>ID 3151408349 · Clave: </a:t>
            </a:r>
            <a:r>
              <a:rPr dirty="0" err="1"/>
              <a:t>rinos</a:t>
            </a:r>
            <a:endParaRPr dirty="0"/>
          </a:p>
        </p:txBody>
      </p:sp>
      <p:sp>
        <p:nvSpPr>
          <p:cNvPr id="54" name="TextBox 43">
            <a:extLst>
              <a:ext uri="{FF2B5EF4-FFF2-40B4-BE49-F238E27FC236}">
                <a16:creationId xmlns:a16="http://schemas.microsoft.com/office/drawing/2014/main" id="{C2C70925-50C5-8AEE-62EB-3A8FD870985B}"/>
              </a:ext>
            </a:extLst>
          </p:cNvPr>
          <p:cNvSpPr txBox="1"/>
          <p:nvPr/>
        </p:nvSpPr>
        <p:spPr>
          <a:xfrm>
            <a:off x="1636395" y="8296277"/>
            <a:ext cx="5349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0A6A1"/>
                </a:solidFill>
                <a:latin typeface="Aptos"/>
              </a:defRPr>
            </a:pPr>
            <a:r>
              <a:t>https://zoom.us/j/3151408349?pwd=x1BuZEFCQIZ1UFINaVBzZWsxdGkzUT09</a:t>
            </a:r>
          </a:p>
        </p:txBody>
      </p:sp>
      <p:sp>
        <p:nvSpPr>
          <p:cNvPr id="56" name="Rounded Rectangle 17">
            <a:extLst>
              <a:ext uri="{FF2B5EF4-FFF2-40B4-BE49-F238E27FC236}">
                <a16:creationId xmlns:a16="http://schemas.microsoft.com/office/drawing/2014/main" id="{DF223936-5052-30B2-5572-2DBAE45FFF2B}"/>
              </a:ext>
            </a:extLst>
          </p:cNvPr>
          <p:cNvSpPr/>
          <p:nvPr/>
        </p:nvSpPr>
        <p:spPr>
          <a:xfrm>
            <a:off x="806958" y="4175379"/>
            <a:ext cx="256032" cy="25603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18">
            <a:extLst>
              <a:ext uri="{FF2B5EF4-FFF2-40B4-BE49-F238E27FC236}">
                <a16:creationId xmlns:a16="http://schemas.microsoft.com/office/drawing/2014/main" id="{C5B1C451-3A84-3533-1D02-41580A6FB1A8}"/>
              </a:ext>
            </a:extLst>
          </p:cNvPr>
          <p:cNvSpPr txBox="1"/>
          <p:nvPr/>
        </p:nvSpPr>
        <p:spPr>
          <a:xfrm>
            <a:off x="834390" y="4219829"/>
            <a:ext cx="210312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AR" dirty="0"/>
              <a:t>5</a:t>
            </a:r>
            <a:endParaRPr dirty="0"/>
          </a:p>
        </p:txBody>
      </p:sp>
      <p:sp>
        <p:nvSpPr>
          <p:cNvPr id="58" name="TextBox 22">
            <a:extLst>
              <a:ext uri="{FF2B5EF4-FFF2-40B4-BE49-F238E27FC236}">
                <a16:creationId xmlns:a16="http://schemas.microsoft.com/office/drawing/2014/main" id="{B4A3CB4C-9489-E0D0-A2A1-9E24DBAC8A95}"/>
              </a:ext>
            </a:extLst>
          </p:cNvPr>
          <p:cNvSpPr txBox="1"/>
          <p:nvPr/>
        </p:nvSpPr>
        <p:spPr>
          <a:xfrm>
            <a:off x="1227582" y="4176903"/>
            <a:ext cx="5715000" cy="2369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25364A"/>
                </a:solidFill>
                <a:latin typeface="Aptos"/>
              </a:defRPr>
            </a:pPr>
            <a:r>
              <a:rPr lang="es-AR" dirty="0"/>
              <a:t>Hoja de ruta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772400" cy="164592"/>
          </a:xfrm>
          <a:prstGeom prst="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0A6A1"/>
                </a:solidFill>
                <a:latin typeface="Aptos"/>
              </a:defRPr>
            </a:pPr>
            <a:r>
              <a:t>02 · CULTURA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676656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700" b="1">
                <a:solidFill>
                  <a:srgbClr val="142A43"/>
                </a:solidFill>
                <a:latin typeface="Aptos"/>
              </a:defRPr>
            </a:pPr>
            <a:r>
              <a:t>Nuestros principios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11712"/>
            <a:ext cx="6766560" cy="13716"/>
          </a:xfrm>
          <a:prstGeom prst="rect">
            <a:avLst/>
          </a:prstGeom>
          <a:solidFill>
            <a:srgbClr val="D9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503152"/>
            <a:ext cx="548640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607286"/>
                </a:solidFill>
                <a:latin typeface="Aptos"/>
              </a:defRPr>
            </a:pPr>
            <a:r>
              <a:t>HOJA DE RUTA · NUEVO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1475720"/>
            <a:ext cx="5943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100" b="1">
                <a:solidFill>
                  <a:srgbClr val="10A6A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73352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7512" y="1837944"/>
            <a:ext cx="438912" cy="43891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960245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33194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rPr dirty="0" err="1"/>
              <a:t>Somos</a:t>
            </a:r>
            <a:r>
              <a:rPr dirty="0"/>
              <a:t> </a:t>
            </a:r>
            <a:r>
              <a:rPr dirty="0" err="1"/>
              <a:t>producto</a:t>
            </a:r>
            <a:r>
              <a:rPr dirty="0"/>
              <a:t> del </a:t>
            </a:r>
            <a:r>
              <a:rPr dirty="0" err="1"/>
              <a:t>producto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Disfrutamos del Sistema Integral de Purificación nosotros primero, para poder transmitirlo.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9352" y="1673352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23944" y="1837944"/>
            <a:ext cx="438912" cy="438912"/>
          </a:xfrm>
          <a:prstGeom prst="round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23944" y="1950720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939544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rPr dirty="0"/>
              <a:t>5 × 2: GPS del </a:t>
            </a:r>
            <a:r>
              <a:rPr dirty="0" err="1"/>
              <a:t>crecimiento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142232" y="2423160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Construimos cartera de usuarios y equipo desde el día uno. Trabajamos el 5×2: cinco o más ventas y dos o más patrocinios.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29584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" y="3694176"/>
            <a:ext cx="438912" cy="43891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3816477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89426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rPr dirty="0" err="1"/>
              <a:t>Ganarle</a:t>
            </a:r>
            <a:r>
              <a:rPr dirty="0"/>
              <a:t> al </a:t>
            </a:r>
            <a:r>
              <a:rPr dirty="0" err="1"/>
              <a:t>mes</a:t>
            </a:r>
            <a:r>
              <a:rPr dirty="0"/>
              <a:t> es </a:t>
            </a:r>
            <a:r>
              <a:rPr dirty="0" err="1"/>
              <a:t>saludable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Concretamos objetivos para el día 15. Hacer primero lo importante es un principio de éxito.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9352" y="3529584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123944" y="3694176"/>
            <a:ext cx="438912" cy="438912"/>
          </a:xfrm>
          <a:prstGeom prst="round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23944" y="3816477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783076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rPr dirty="0"/>
              <a:t>Es un </a:t>
            </a:r>
            <a:r>
              <a:rPr dirty="0" err="1"/>
              <a:t>negocio</a:t>
            </a:r>
            <a:r>
              <a:rPr dirty="0"/>
              <a:t> de personas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2232" y="4279392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Agregamos personas nuevas a nuestra lista constantemente.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385816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67512" y="5550407"/>
            <a:ext cx="438912" cy="43891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" y="5691758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645657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rPr dirty="0" err="1"/>
              <a:t>Somos</a:t>
            </a:r>
            <a:r>
              <a:rPr dirty="0"/>
              <a:t> </a:t>
            </a:r>
            <a:r>
              <a:rPr dirty="0" err="1"/>
              <a:t>oportunidad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685800" y="6135624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Nos aseguramos de que cinco o más personas vean la presentación cada semana.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59352" y="5385816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123944" y="5550407"/>
            <a:ext cx="438912" cy="438912"/>
          </a:xfrm>
          <a:prstGeom prst="round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23944" y="5672708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872" y="5550407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t>Personas únicas; herramientas duplicables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2" y="6135624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Las herramientas permiten que nuestro negocio sea duplicable.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7242048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67512" y="7406640"/>
            <a:ext cx="438912" cy="43891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" y="7538466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7501890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rPr dirty="0" err="1"/>
              <a:t>Autoformación</a:t>
            </a:r>
            <a:r>
              <a:rPr dirty="0"/>
              <a:t> </a:t>
            </a:r>
            <a:r>
              <a:rPr dirty="0" err="1"/>
              <a:t>diaria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685800" y="7991856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Si estás, se nota. Si no, también.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59352" y="7242048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123944" y="7406640"/>
            <a:ext cx="438912" cy="438912"/>
          </a:xfrm>
          <a:prstGeom prst="round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23944" y="7538466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0872" y="7406640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t>Estamos en un negocio de eventos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42232" y="7991856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Nuestros ingresos serán acordes a nuestro desarrollo personal.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9098280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67512" y="9262872"/>
            <a:ext cx="438912" cy="438912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9394698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9358122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rPr dirty="0" err="1"/>
              <a:t>Somos</a:t>
            </a:r>
            <a:r>
              <a:rPr dirty="0"/>
              <a:t> la </a:t>
            </a:r>
            <a:r>
              <a:rPr dirty="0" err="1"/>
              <a:t>vidriera</a:t>
            </a:r>
            <a:r>
              <a:rPr dirty="0"/>
              <a:t> del </a:t>
            </a:r>
            <a:r>
              <a:rPr dirty="0" err="1"/>
              <a:t>negocio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685800" y="9848088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Vivimos el sistema de formación: 4 C, 4 pilares y 8 pasos del Negocio.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59352" y="9098280"/>
            <a:ext cx="3264408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123944" y="9262872"/>
            <a:ext cx="438912" cy="438912"/>
          </a:xfrm>
          <a:prstGeom prst="round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23944" y="9394698"/>
            <a:ext cx="43891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90872" y="9358122"/>
            <a:ext cx="233172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42A43"/>
                </a:solidFill>
                <a:latin typeface="Aptos"/>
              </a:defRPr>
            </a:pPr>
            <a:r>
              <a:rPr dirty="0" err="1"/>
              <a:t>Disfrutamos</a:t>
            </a:r>
            <a:r>
              <a:rPr dirty="0"/>
              <a:t> y </a:t>
            </a:r>
            <a:r>
              <a:rPr dirty="0" err="1"/>
              <a:t>agradecemos</a:t>
            </a:r>
            <a:endParaRPr dirty="0"/>
          </a:p>
        </p:txBody>
      </p:sp>
      <p:sp>
        <p:nvSpPr>
          <p:cNvPr id="57" name="TextBox 56"/>
          <p:cNvSpPr txBox="1"/>
          <p:nvPr/>
        </p:nvSpPr>
        <p:spPr>
          <a:xfrm>
            <a:off x="4142232" y="9848088"/>
            <a:ext cx="288036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25364A"/>
                </a:solidFill>
                <a:latin typeface="Aptos"/>
              </a:defRPr>
            </a:pPr>
            <a:r>
              <a:t>La actitud correcta abre las puertas de la abundancia. En lo que nos enfocamos se expande.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772400" cy="164592"/>
          </a:xfrm>
          <a:prstGeom prst="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486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0A6A1"/>
                </a:solidFill>
                <a:latin typeface="Aptos"/>
              </a:defRPr>
            </a:pPr>
            <a:r>
              <a:t>03 ·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676656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700" b="1">
                <a:solidFill>
                  <a:srgbClr val="142A43"/>
                </a:solidFill>
                <a:latin typeface="Aptos"/>
              </a:defRPr>
            </a:pPr>
            <a:r>
              <a:t>Acciones que ponen el negocio en marcha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11712"/>
            <a:ext cx="6766560" cy="13716"/>
          </a:xfrm>
          <a:prstGeom prst="rect">
            <a:avLst/>
          </a:prstGeom>
          <a:solidFill>
            <a:srgbClr val="D9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503152"/>
            <a:ext cx="548640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607286"/>
                </a:solidFill>
                <a:latin typeface="Aptos"/>
              </a:defRPr>
            </a:pPr>
            <a:r>
              <a:t>HOJA DE RUTA · NUEVO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1475720"/>
            <a:ext cx="5943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100" b="1">
                <a:solidFill>
                  <a:srgbClr val="10A6A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676656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1892808"/>
            <a:ext cx="685800" cy="685800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097405"/>
            <a:ext cx="685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10512"/>
            <a:ext cx="530352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142A43"/>
                </a:solidFill>
                <a:latin typeface="Aptos"/>
              </a:defRPr>
            </a:pPr>
            <a:r>
              <a:t>Conocer 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167128"/>
            <a:ext cx="539496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25364A"/>
                </a:solidFill>
                <a:latin typeface="Aptos"/>
              </a:defRPr>
            </a:pPr>
            <a:r>
              <a:t>¿Dónde? WhatsApp, base personal y entornos (Margarita).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23744"/>
            <a:ext cx="53949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0A6A1"/>
                </a:solidFill>
                <a:latin typeface="Aptos"/>
              </a:defRPr>
            </a:pPr>
            <a:r>
              <a:t>Módulo 3 · Prospección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18104"/>
            <a:ext cx="676656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3232" y="3319272"/>
            <a:ext cx="685800" cy="685800"/>
          </a:xfrm>
          <a:prstGeom prst="round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523869"/>
            <a:ext cx="685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36976"/>
            <a:ext cx="530352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142A43"/>
                </a:solidFill>
                <a:latin typeface="Aptos"/>
              </a:defRPr>
            </a:pPr>
            <a:r>
              <a:t>Invitar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93592"/>
            <a:ext cx="539496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25364A"/>
                </a:solidFill>
                <a:latin typeface="Aptos"/>
              </a:defRPr>
            </a:pPr>
            <a:r>
              <a:t>Consultá la agenda y practicá la invitación.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950208"/>
            <a:ext cx="53949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0A6A1"/>
                </a:solidFill>
                <a:latin typeface="Aptos"/>
              </a:defRPr>
            </a:pPr>
            <a:r>
              <a:t>Campus · Abundancia en la Invitación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44568"/>
            <a:ext cx="676656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" y="4745736"/>
            <a:ext cx="685800" cy="685800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912233"/>
            <a:ext cx="685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663440"/>
            <a:ext cx="530352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142A43"/>
                </a:solidFill>
                <a:latin typeface="Aptos"/>
              </a:defRPr>
            </a:pPr>
            <a:r>
              <a:t>Presentar el negocio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20056"/>
            <a:ext cx="539496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25364A"/>
                </a:solidFill>
                <a:latin typeface="Aptos"/>
              </a:defRPr>
            </a:pPr>
            <a:r>
              <a:t>Presentación de Negocio Oficial y seguimiento PSA.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376672"/>
            <a:ext cx="53949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0A6A1"/>
                </a:solidFill>
                <a:latin typeface="Aptos"/>
              </a:defRPr>
            </a:pPr>
            <a:r>
              <a:t>Guía de Negocio · Cuadro de Utilidades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971031"/>
            <a:ext cx="676656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3232" y="6172199"/>
            <a:ext cx="685800" cy="685800"/>
          </a:xfrm>
          <a:prstGeom prst="round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6376796"/>
            <a:ext cx="685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6089903"/>
            <a:ext cx="530352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142A43"/>
                </a:solidFill>
                <a:latin typeface="Aptos"/>
              </a:defRPr>
            </a:pPr>
            <a:r>
              <a:t>Concretar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6446519"/>
            <a:ext cx="539496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25364A"/>
                </a:solidFill>
                <a:latin typeface="Aptos"/>
              </a:defRPr>
            </a:pPr>
            <a:r>
              <a:t>Inversión a medida y próximos pasos.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6803136"/>
            <a:ext cx="53949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0A6A1"/>
                </a:solidFill>
                <a:latin typeface="Aptos"/>
              </a:defRPr>
            </a:pPr>
            <a:r>
              <a:t>Módulo 5 · Patrocinio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7397496"/>
            <a:ext cx="676656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13232" y="7598664"/>
            <a:ext cx="685800" cy="685800"/>
          </a:xfrm>
          <a:prstGeom prst="roundRect">
            <a:avLst/>
          </a:prstGeom>
          <a:solidFill>
            <a:srgbClr val="10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7812786"/>
            <a:ext cx="685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7516368"/>
            <a:ext cx="530352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142A43"/>
                </a:solidFill>
                <a:latin typeface="Aptos"/>
              </a:defRPr>
            </a:pPr>
            <a:r>
              <a:t>Iniciar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7872983"/>
            <a:ext cx="539496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25364A"/>
                </a:solidFill>
                <a:latin typeface="Aptos"/>
              </a:defRPr>
            </a:pPr>
            <a:r>
              <a:t>Primeros pasos, patrocinio y desarrollo.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8229600"/>
            <a:ext cx="53949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0A6A1"/>
                </a:solidFill>
                <a:latin typeface="Aptos"/>
              </a:defRPr>
            </a:pPr>
            <a:r>
              <a:t>Etapas de un Negocio Sustentable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9098280"/>
            <a:ext cx="6766560" cy="1874519"/>
          </a:xfrm>
          <a:prstGeom prst="round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9326880"/>
            <a:ext cx="6217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7FE0D5"/>
                </a:solidFill>
                <a:latin typeface="Aptos"/>
              </a:defRPr>
            </a:pPr>
            <a:r>
              <a:t>RECURSOS PARA SEGUIR CRECIENDO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9738360"/>
            <a:ext cx="6172200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rPr dirty="0"/>
              <a:t>Mi PSA: </a:t>
            </a:r>
            <a:r>
              <a:rPr dirty="0" err="1"/>
              <a:t>practicá</a:t>
            </a:r>
            <a:r>
              <a:rPr dirty="0"/>
              <a:t> Portal de </a:t>
            </a:r>
            <a:r>
              <a:rPr dirty="0" err="1"/>
              <a:t>Compras</a:t>
            </a:r>
            <a:r>
              <a:rPr dirty="0"/>
              <a:t>, Link de Pagos, Campus, Mi Agenda y </a:t>
            </a:r>
            <a:r>
              <a:rPr dirty="0" err="1"/>
              <a:t>Autoconsulta</a:t>
            </a:r>
            <a:r>
              <a:rPr dirty="0"/>
              <a:t>. </a:t>
            </a:r>
            <a:r>
              <a:rPr dirty="0" err="1"/>
              <a:t>Revisá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beneficios</a:t>
            </a:r>
            <a:r>
              <a:rPr dirty="0"/>
              <a:t> de la </a:t>
            </a:r>
            <a:r>
              <a:rPr dirty="0" err="1"/>
              <a:t>inscripción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A</a:t>
            </a:r>
            <a:r>
              <a:rPr lang="es-AR" dirty="0"/>
              <a:t>RCA</a:t>
            </a:r>
            <a:r>
              <a:rPr dirty="0"/>
              <a:t> (Argentina). En redes: Instagram y Facebook. </a:t>
            </a:r>
            <a:r>
              <a:rPr dirty="0" err="1"/>
              <a:t>Formación</a:t>
            </a:r>
            <a:r>
              <a:rPr dirty="0"/>
              <a:t> </a:t>
            </a:r>
            <a:r>
              <a:rPr dirty="0" err="1"/>
              <a:t>complementaria</a:t>
            </a:r>
            <a:r>
              <a:rPr dirty="0"/>
              <a:t>: </a:t>
            </a:r>
            <a:r>
              <a:rPr dirty="0" err="1"/>
              <a:t>seguimiento</a:t>
            </a:r>
            <a:r>
              <a:rPr dirty="0"/>
              <a:t> PSA y </a:t>
            </a:r>
            <a:r>
              <a:rPr dirty="0" err="1"/>
              <a:t>desarrollo</a:t>
            </a:r>
            <a:r>
              <a:rPr dirty="0"/>
              <a:t> de </a:t>
            </a:r>
            <a:r>
              <a:rPr dirty="0" err="1"/>
              <a:t>nuevos</a:t>
            </a:r>
            <a:r>
              <a:rPr dirty="0"/>
              <a:t> DIPs.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625</Words>
  <Application>Microsoft Office PowerPoint</Application>
  <PresentationFormat>Personalizado</PresentationFormat>
  <Paragraphs>94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Diaz German Ezequiel</dc:creator>
  <cp:keywords/>
  <dc:description>generated using python-pptx</dc:description>
  <cp:lastModifiedBy>Diaz German Ezequiel</cp:lastModifiedBy>
  <cp:revision>2</cp:revision>
  <cp:lastPrinted>2026-10-21T22:40:05Z</cp:lastPrinted>
  <dcterms:created xsi:type="dcterms:W3CDTF">2013-01-27T09:14:16Z</dcterms:created>
  <dcterms:modified xsi:type="dcterms:W3CDTF">2026-10-21T22:51:56Z</dcterms:modified>
  <cp:category/>
</cp:coreProperties>
</file>